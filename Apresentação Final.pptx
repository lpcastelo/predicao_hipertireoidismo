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8FC"/>
    <a:srgbClr val="173F7A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857FF3-FAB8-D024-CF1C-834802C998CB}" v="2023" dt="2026-08-10T22:00:53.659"/>
    <p1510:client id="{67A59AD2-49A3-EECA-AE8D-FD10A5178171}" v="25" dt="2026-08-10T22:07:10.872"/>
    <p1510:client id="{C0C02C74-7727-683C-4E38-3966E38F992B}" v="385" dt="2026-08-11T14:07:18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6E3EE6-319B-49A4-922A-9AABD6C3C97C}" type="doc">
      <dgm:prSet loTypeId="urn:microsoft.com/office/officeart/2005/8/layout/hierarchy1" loCatId="hierarchy" qsTypeId="urn:microsoft.com/office/officeart/2005/8/quickstyle/simple1#46" qsCatId="simple" csTypeId="urn:microsoft.com/office/officeart/2005/8/colors/colorful2#12" csCatId="colorful"/>
      <dgm:spPr/>
      <dgm:t>
        <a:bodyPr/>
        <a:lstStyle/>
        <a:p>
          <a:endParaRPr lang="en-US"/>
        </a:p>
      </dgm:t>
    </dgm:pt>
    <dgm:pt modelId="{4E78ABBE-BB5E-4B45-B90E-5EFFC418B17D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pt-BR" sz="3000" dirty="0">
              <a:solidFill>
                <a:srgbClr val="173F7A"/>
              </a:solidFill>
              <a:latin typeface="Aptos"/>
              <a:ea typeface="+mn-ea"/>
              <a:cs typeface="+mn-cs"/>
            </a:rPr>
            <a:t>O modelo de Machine </a:t>
          </a:r>
          <a:r>
            <a:rPr lang="pt-BR" sz="3000" dirty="0" err="1">
              <a:solidFill>
                <a:srgbClr val="173F7A"/>
              </a:solidFill>
              <a:latin typeface="Aptos"/>
              <a:ea typeface="+mn-ea"/>
              <a:cs typeface="+mn-cs"/>
            </a:rPr>
            <a:t>Learnig</a:t>
          </a:r>
          <a:r>
            <a:rPr lang="pt-BR" sz="3000" dirty="0">
              <a:solidFill>
                <a:srgbClr val="173F7A"/>
              </a:solidFill>
              <a:latin typeface="Aptos"/>
              <a:ea typeface="+mn-ea"/>
              <a:cs typeface="+mn-cs"/>
            </a:rPr>
            <a:t> foi desenvolvido com o intuito de prever de forma rápida e precisa casos de hipertireoidismo.</a:t>
          </a:r>
          <a:endParaRPr lang="en-US" sz="3000" dirty="0">
            <a:solidFill>
              <a:srgbClr val="173F7A"/>
            </a:solidFill>
            <a:latin typeface="Aptos"/>
            <a:ea typeface="+mn-ea"/>
            <a:cs typeface="+mn-cs"/>
          </a:endParaRPr>
        </a:p>
      </dgm:t>
    </dgm:pt>
    <dgm:pt modelId="{D0D82987-7899-47E2-817F-C9414BED1661}" type="parTrans" cxnId="{8F4451BF-753F-4C74-B202-7E51DF6CF400}">
      <dgm:prSet/>
      <dgm:spPr/>
      <dgm:t>
        <a:bodyPr/>
        <a:lstStyle/>
        <a:p>
          <a:endParaRPr lang="en-US"/>
        </a:p>
      </dgm:t>
    </dgm:pt>
    <dgm:pt modelId="{AA15FE69-3930-42E7-B7C8-AE9BB7CA3BA8}" type="sibTrans" cxnId="{8F4451BF-753F-4C74-B202-7E51DF6CF400}">
      <dgm:prSet/>
      <dgm:spPr/>
      <dgm:t>
        <a:bodyPr/>
        <a:lstStyle/>
        <a:p>
          <a:endParaRPr lang="en-US"/>
        </a:p>
      </dgm:t>
    </dgm:pt>
    <dgm:pt modelId="{77566750-25EE-41E4-BD96-17A1C8429071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pt-BR" sz="3000">
              <a:solidFill>
                <a:srgbClr val="173F7A"/>
              </a:solidFill>
              <a:latin typeface="Aptos"/>
              <a:ea typeface="+mn-ea"/>
              <a:cs typeface="+mn-cs"/>
            </a:rPr>
            <a:t>O principal objetivo do modelo é minimizar os casos de Falsos Negativos. Isso evita que pacientes com a doença fiquem sem tratamento.</a:t>
          </a:r>
          <a:endParaRPr lang="en-US" sz="3000">
            <a:solidFill>
              <a:srgbClr val="173F7A"/>
            </a:solidFill>
            <a:latin typeface="Aptos"/>
            <a:ea typeface="+mn-ea"/>
            <a:cs typeface="+mn-cs"/>
          </a:endParaRPr>
        </a:p>
      </dgm:t>
    </dgm:pt>
    <dgm:pt modelId="{A12E6FC5-5A75-4721-B7EF-63680294DE7A}" type="parTrans" cxnId="{7DF61C38-7CB0-4A29-B612-FE172B199F46}">
      <dgm:prSet/>
      <dgm:spPr/>
      <dgm:t>
        <a:bodyPr/>
        <a:lstStyle/>
        <a:p>
          <a:endParaRPr lang="en-US"/>
        </a:p>
      </dgm:t>
    </dgm:pt>
    <dgm:pt modelId="{13D2C170-34D5-47B7-B7AA-C9BE9B56282D}" type="sibTrans" cxnId="{7DF61C38-7CB0-4A29-B612-FE172B199F46}">
      <dgm:prSet/>
      <dgm:spPr/>
      <dgm:t>
        <a:bodyPr/>
        <a:lstStyle/>
        <a:p>
          <a:endParaRPr lang="en-US"/>
        </a:p>
      </dgm:t>
    </dgm:pt>
    <dgm:pt modelId="{1B87433D-D69E-43FC-B33D-3A0E05464470}" type="pres">
      <dgm:prSet presAssocID="{D06E3EE6-319B-49A4-922A-9AABD6C3C97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373F0D-B5B3-47E8-AF94-1F41CDF7DF3E}" type="pres">
      <dgm:prSet presAssocID="{4E78ABBE-BB5E-4B45-B90E-5EFFC418B17D}" presName="hierRoot1" presStyleCnt="0"/>
      <dgm:spPr/>
    </dgm:pt>
    <dgm:pt modelId="{DD4F3A90-C99F-48BF-A476-C5431D15F7B5}" type="pres">
      <dgm:prSet presAssocID="{4E78ABBE-BB5E-4B45-B90E-5EFFC418B17D}" presName="composite" presStyleCnt="0"/>
      <dgm:spPr/>
    </dgm:pt>
    <dgm:pt modelId="{54C7FAF0-1C8F-4B1A-AFFD-46A130E271F0}" type="pres">
      <dgm:prSet presAssocID="{4E78ABBE-BB5E-4B45-B90E-5EFFC418B17D}" presName="background" presStyleLbl="node0" presStyleIdx="0" presStyleCnt="2"/>
      <dgm:spPr/>
    </dgm:pt>
    <dgm:pt modelId="{37AC862A-9BA7-4456-B7C4-F3D56B33AED9}" type="pres">
      <dgm:prSet presAssocID="{4E78ABBE-BB5E-4B45-B90E-5EFFC418B17D}" presName="text" presStyleLbl="fgAcc0" presStyleIdx="0" presStyleCnt="2">
        <dgm:presLayoutVars>
          <dgm:chPref val="3"/>
        </dgm:presLayoutVars>
      </dgm:prSet>
      <dgm:spPr/>
    </dgm:pt>
    <dgm:pt modelId="{BE4445AB-8014-425F-B17D-3762E613B191}" type="pres">
      <dgm:prSet presAssocID="{4E78ABBE-BB5E-4B45-B90E-5EFFC418B17D}" presName="hierChild2" presStyleCnt="0"/>
      <dgm:spPr/>
    </dgm:pt>
    <dgm:pt modelId="{FAEE2CCF-D530-4162-8B99-DA5992F55FF0}" type="pres">
      <dgm:prSet presAssocID="{77566750-25EE-41E4-BD96-17A1C8429071}" presName="hierRoot1" presStyleCnt="0"/>
      <dgm:spPr/>
    </dgm:pt>
    <dgm:pt modelId="{A6FA4E56-9D6F-4B70-BA9C-FCF1CDC3192F}" type="pres">
      <dgm:prSet presAssocID="{77566750-25EE-41E4-BD96-17A1C8429071}" presName="composite" presStyleCnt="0"/>
      <dgm:spPr/>
    </dgm:pt>
    <dgm:pt modelId="{A084A357-9C7D-46B3-AF9F-A1889FA90E3C}" type="pres">
      <dgm:prSet presAssocID="{77566750-25EE-41E4-BD96-17A1C8429071}" presName="background" presStyleLbl="node0" presStyleIdx="1" presStyleCnt="2"/>
      <dgm:spPr/>
    </dgm:pt>
    <dgm:pt modelId="{49EDC7C2-86B4-475C-89C3-1810244DE87A}" type="pres">
      <dgm:prSet presAssocID="{77566750-25EE-41E4-BD96-17A1C8429071}" presName="text" presStyleLbl="fgAcc0" presStyleIdx="1" presStyleCnt="2">
        <dgm:presLayoutVars>
          <dgm:chPref val="3"/>
        </dgm:presLayoutVars>
      </dgm:prSet>
      <dgm:spPr/>
    </dgm:pt>
    <dgm:pt modelId="{B31C28F1-99E8-43C1-B16B-63D247FE3FCC}" type="pres">
      <dgm:prSet presAssocID="{77566750-25EE-41E4-BD96-17A1C8429071}" presName="hierChild2" presStyleCnt="0"/>
      <dgm:spPr/>
    </dgm:pt>
  </dgm:ptLst>
  <dgm:cxnLst>
    <dgm:cxn modelId="{7DF61C38-7CB0-4A29-B612-FE172B199F46}" srcId="{D06E3EE6-319B-49A4-922A-9AABD6C3C97C}" destId="{77566750-25EE-41E4-BD96-17A1C8429071}" srcOrd="1" destOrd="0" parTransId="{A12E6FC5-5A75-4721-B7EF-63680294DE7A}" sibTransId="{13D2C170-34D5-47B7-B7AA-C9BE9B56282D}"/>
    <dgm:cxn modelId="{B826F95B-2C04-4F95-BCA5-4975A285D017}" type="presOf" srcId="{D06E3EE6-319B-49A4-922A-9AABD6C3C97C}" destId="{1B87433D-D69E-43FC-B33D-3A0E05464470}" srcOrd="0" destOrd="0" presId="urn:microsoft.com/office/officeart/2005/8/layout/hierarchy1"/>
    <dgm:cxn modelId="{8F4451BF-753F-4C74-B202-7E51DF6CF400}" srcId="{D06E3EE6-319B-49A4-922A-9AABD6C3C97C}" destId="{4E78ABBE-BB5E-4B45-B90E-5EFFC418B17D}" srcOrd="0" destOrd="0" parTransId="{D0D82987-7899-47E2-817F-C9414BED1661}" sibTransId="{AA15FE69-3930-42E7-B7C8-AE9BB7CA3BA8}"/>
    <dgm:cxn modelId="{4F4E52EB-7280-47AC-B2BF-43D2758BB7E2}" type="presOf" srcId="{77566750-25EE-41E4-BD96-17A1C8429071}" destId="{49EDC7C2-86B4-475C-89C3-1810244DE87A}" srcOrd="0" destOrd="0" presId="urn:microsoft.com/office/officeart/2005/8/layout/hierarchy1"/>
    <dgm:cxn modelId="{BB8EE0FD-3F29-4CCA-88F5-026D0E46C295}" type="presOf" srcId="{4E78ABBE-BB5E-4B45-B90E-5EFFC418B17D}" destId="{37AC862A-9BA7-4456-B7C4-F3D56B33AED9}" srcOrd="0" destOrd="0" presId="urn:microsoft.com/office/officeart/2005/8/layout/hierarchy1"/>
    <dgm:cxn modelId="{A6A2715D-E0D1-40AB-919B-DCCCF52E5166}" type="presParOf" srcId="{1B87433D-D69E-43FC-B33D-3A0E05464470}" destId="{B4373F0D-B5B3-47E8-AF94-1F41CDF7DF3E}" srcOrd="0" destOrd="0" presId="urn:microsoft.com/office/officeart/2005/8/layout/hierarchy1"/>
    <dgm:cxn modelId="{013ED35D-27C8-47BA-9697-F0C42CC6D480}" type="presParOf" srcId="{B4373F0D-B5B3-47E8-AF94-1F41CDF7DF3E}" destId="{DD4F3A90-C99F-48BF-A476-C5431D15F7B5}" srcOrd="0" destOrd="0" presId="urn:microsoft.com/office/officeart/2005/8/layout/hierarchy1"/>
    <dgm:cxn modelId="{A57C08A5-D4D1-412D-BA7C-B1E734EA2E79}" type="presParOf" srcId="{DD4F3A90-C99F-48BF-A476-C5431D15F7B5}" destId="{54C7FAF0-1C8F-4B1A-AFFD-46A130E271F0}" srcOrd="0" destOrd="0" presId="urn:microsoft.com/office/officeart/2005/8/layout/hierarchy1"/>
    <dgm:cxn modelId="{A3CEC6D7-92EF-4BB4-8287-7586BFB2E459}" type="presParOf" srcId="{DD4F3A90-C99F-48BF-A476-C5431D15F7B5}" destId="{37AC862A-9BA7-4456-B7C4-F3D56B33AED9}" srcOrd="1" destOrd="0" presId="urn:microsoft.com/office/officeart/2005/8/layout/hierarchy1"/>
    <dgm:cxn modelId="{AAA1C0C9-4E94-44D0-8DCB-CA45033C8E46}" type="presParOf" srcId="{B4373F0D-B5B3-47E8-AF94-1F41CDF7DF3E}" destId="{BE4445AB-8014-425F-B17D-3762E613B191}" srcOrd="1" destOrd="0" presId="urn:microsoft.com/office/officeart/2005/8/layout/hierarchy1"/>
    <dgm:cxn modelId="{74B71DED-FA0E-4FDF-B2F5-97739B654C71}" type="presParOf" srcId="{1B87433D-D69E-43FC-B33D-3A0E05464470}" destId="{FAEE2CCF-D530-4162-8B99-DA5992F55FF0}" srcOrd="1" destOrd="0" presId="urn:microsoft.com/office/officeart/2005/8/layout/hierarchy1"/>
    <dgm:cxn modelId="{218A0F6B-43D5-4013-8AD6-C246A6B45882}" type="presParOf" srcId="{FAEE2CCF-D530-4162-8B99-DA5992F55FF0}" destId="{A6FA4E56-9D6F-4B70-BA9C-FCF1CDC3192F}" srcOrd="0" destOrd="0" presId="urn:microsoft.com/office/officeart/2005/8/layout/hierarchy1"/>
    <dgm:cxn modelId="{14B91EC5-1EBD-42B1-9C8F-6ADF13F4D8DE}" type="presParOf" srcId="{A6FA4E56-9D6F-4B70-BA9C-FCF1CDC3192F}" destId="{A084A357-9C7D-46B3-AF9F-A1889FA90E3C}" srcOrd="0" destOrd="0" presId="urn:microsoft.com/office/officeart/2005/8/layout/hierarchy1"/>
    <dgm:cxn modelId="{BC9D216B-5CA2-402B-91B0-4646FD2E3227}" type="presParOf" srcId="{A6FA4E56-9D6F-4B70-BA9C-FCF1CDC3192F}" destId="{49EDC7C2-86B4-475C-89C3-1810244DE87A}" srcOrd="1" destOrd="0" presId="urn:microsoft.com/office/officeart/2005/8/layout/hierarchy1"/>
    <dgm:cxn modelId="{63C8321E-A025-4ADB-B5AF-7970CBFBC367}" type="presParOf" srcId="{FAEE2CCF-D530-4162-8B99-DA5992F55FF0}" destId="{B31C28F1-99E8-43C1-B16B-63D247FE3F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7FAF0-1C8F-4B1A-AFFD-46A130E271F0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C862A-9BA7-4456-B7C4-F3D56B33AED9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 dirty="0">
              <a:solidFill>
                <a:srgbClr val="173F7A"/>
              </a:solidFill>
              <a:latin typeface="Aptos"/>
              <a:ea typeface="+mn-ea"/>
              <a:cs typeface="+mn-cs"/>
            </a:rPr>
            <a:t>O modelo de Machine </a:t>
          </a:r>
          <a:r>
            <a:rPr lang="pt-BR" sz="3000" kern="1200" dirty="0" err="1">
              <a:solidFill>
                <a:srgbClr val="173F7A"/>
              </a:solidFill>
              <a:latin typeface="Aptos"/>
              <a:ea typeface="+mn-ea"/>
              <a:cs typeface="+mn-cs"/>
            </a:rPr>
            <a:t>Learnig</a:t>
          </a:r>
          <a:r>
            <a:rPr lang="pt-BR" sz="3000" kern="1200" dirty="0">
              <a:solidFill>
                <a:srgbClr val="173F7A"/>
              </a:solidFill>
              <a:latin typeface="Aptos"/>
              <a:ea typeface="+mn-ea"/>
              <a:cs typeface="+mn-cs"/>
            </a:rPr>
            <a:t> foi desenvolvido com o intuito de prever de forma rápida e precisa casos de hipertireoidismo.</a:t>
          </a:r>
          <a:endParaRPr lang="en-US" sz="3000" kern="1200" dirty="0">
            <a:solidFill>
              <a:srgbClr val="173F7A"/>
            </a:solidFill>
            <a:latin typeface="Aptos"/>
            <a:ea typeface="+mn-ea"/>
            <a:cs typeface="+mn-cs"/>
          </a:endParaRPr>
        </a:p>
      </dsp:txBody>
      <dsp:txXfrm>
        <a:off x="608661" y="692298"/>
        <a:ext cx="4508047" cy="2799040"/>
      </dsp:txXfrm>
    </dsp:sp>
    <dsp:sp modelId="{A084A357-9C7D-46B3-AF9F-A1889FA90E3C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EDC7C2-86B4-475C-89C3-1810244DE87A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kern="1200">
              <a:solidFill>
                <a:srgbClr val="173F7A"/>
              </a:solidFill>
              <a:latin typeface="Aptos"/>
              <a:ea typeface="+mn-ea"/>
              <a:cs typeface="+mn-cs"/>
            </a:rPr>
            <a:t>O principal objetivo do modelo é minimizar os casos de Falsos Negativos. Isso evita que pacientes com a doença fiquem sem tratamento.</a:t>
          </a:r>
          <a:endParaRPr lang="en-US" sz="3000" kern="1200">
            <a:solidFill>
              <a:srgbClr val="173F7A"/>
            </a:solidFill>
            <a:latin typeface="Aptos"/>
            <a:ea typeface="+mn-ea"/>
            <a:cs typeface="+mn-cs"/>
          </a:endParaRP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11.08.2026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33886F8-1C52-289C-D0F2-EF03054E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41" r="-33" b="7857"/>
          <a:stretch>
            <a:fillRect/>
          </a:stretch>
        </p:blipFill>
        <p:spPr>
          <a:xfrm>
            <a:off x="-2241" y="-14792"/>
            <a:ext cx="12207195" cy="688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3B606D-A8AC-3884-B57E-2D7A79D3D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65" y="348865"/>
            <a:ext cx="12183404" cy="1576446"/>
          </a:xfrm>
        </p:spPr>
        <p:txBody>
          <a:bodyPr anchor="ctr">
            <a:normAutofit/>
          </a:bodyPr>
          <a:lstStyle/>
          <a:p>
            <a:pPr algn="ctr"/>
            <a:r>
              <a:rPr lang="pt-BR" sz="5400">
                <a:solidFill>
                  <a:srgbClr val="FFFFFF"/>
                </a:solidFill>
              </a:rPr>
              <a:t>Modelo Preditivo de Hipertireoidismo</a:t>
            </a:r>
            <a:endParaRPr lang="pt-BR" sz="4800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9BB55E07-ADA0-CACD-1E7D-5050C12D6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89179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8516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788E746-4ADC-CBA0-C7AE-CAC37BEF26A5}"/>
              </a:ext>
            </a:extLst>
          </p:cNvPr>
          <p:cNvSpPr/>
          <p:nvPr/>
        </p:nvSpPr>
        <p:spPr>
          <a:xfrm>
            <a:off x="3083337" y="176720"/>
            <a:ext cx="8868129" cy="6391246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88900" dist="101600" dir="810000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30D597C-4071-6E4E-D23F-22DF5DD7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437" y="118019"/>
            <a:ext cx="5094962" cy="3194007"/>
          </a:xfrm>
          <a:prstGeom prst="rect">
            <a:avLst/>
          </a:prstGeom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FEC86D3-CE01-7AE1-B4FA-9F007BB2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975" y="127000"/>
            <a:ext cx="3359150" cy="3200400"/>
          </a:xfrm>
          <a:prstGeom prst="rect">
            <a:avLst/>
          </a:prstGeom>
          <a:ln>
            <a:noFill/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EE0B62-9DE3-7A6A-8854-9C73FB3F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648" y="3433306"/>
            <a:ext cx="4307911" cy="3106612"/>
          </a:xfrm>
          <a:prstGeom prst="rect">
            <a:avLst/>
          </a:prstGeom>
          <a:ln>
            <a:noFill/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297B6B7-F9FB-0B7E-3E82-47D1A6402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0689" y="3433306"/>
            <a:ext cx="4318348" cy="3110787"/>
          </a:xfrm>
          <a:prstGeom prst="rect">
            <a:avLst/>
          </a:prstGeom>
          <a:ln>
            <a:noFill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E5FAD9-0529-AB36-ABF1-52845A813170}"/>
              </a:ext>
            </a:extLst>
          </p:cNvPr>
          <p:cNvSpPr txBox="1"/>
          <p:nvPr/>
        </p:nvSpPr>
        <p:spPr>
          <a:xfrm>
            <a:off x="101590" y="254383"/>
            <a:ext cx="274471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 u="sng">
                <a:solidFill>
                  <a:srgbClr val="173F7A"/>
                </a:solidFill>
              </a:rPr>
              <a:t>INSIGHTS DOS PACIENTES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03FE77-5B2E-E43B-09C9-40C0D110A8B3}"/>
              </a:ext>
            </a:extLst>
          </p:cNvPr>
          <p:cNvSpPr txBox="1"/>
          <p:nvPr/>
        </p:nvSpPr>
        <p:spPr>
          <a:xfrm>
            <a:off x="109493" y="2011198"/>
            <a:ext cx="2892356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pt-BR" sz="2000" dirty="0">
                <a:solidFill>
                  <a:srgbClr val="173F7A"/>
                </a:solidFill>
                <a:ea typeface="+mn-lt"/>
                <a:cs typeface="+mn-lt"/>
              </a:rPr>
              <a:t> </a:t>
            </a:r>
            <a:r>
              <a:rPr lang="pt-BR" sz="2200">
                <a:solidFill>
                  <a:srgbClr val="173F7A"/>
                </a:solidFill>
                <a:ea typeface="+mn-lt"/>
                <a:cs typeface="+mn-lt"/>
              </a:rPr>
              <a:t>👥 </a:t>
            </a:r>
            <a:r>
              <a:rPr lang="pt-BR" sz="2200" b="1">
                <a:solidFill>
                  <a:srgbClr val="173F7A"/>
                </a:solidFill>
                <a:ea typeface="+mn-lt"/>
                <a:cs typeface="+mn-lt"/>
              </a:rPr>
              <a:t>70% mulheres | 30% homens</a:t>
            </a:r>
            <a:endParaRPr lang="pt-BR" sz="2200" b="1">
              <a:solidFill>
                <a:srgbClr val="173F7A"/>
              </a:solidFill>
            </a:endParaRPr>
          </a:p>
          <a:p>
            <a:endParaRPr lang="pt-BR" sz="2200" b="1" dirty="0">
              <a:solidFill>
                <a:srgbClr val="173F7A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200">
                <a:solidFill>
                  <a:srgbClr val="173F7A"/>
                </a:solidFill>
                <a:ea typeface="+mn-lt"/>
                <a:cs typeface="+mn-lt"/>
              </a:rPr>
              <a:t> 📊 </a:t>
            </a:r>
            <a:r>
              <a:rPr lang="pt-BR" sz="2200" b="1">
                <a:solidFill>
                  <a:srgbClr val="173F7A"/>
                </a:solidFill>
                <a:ea typeface="+mn-lt"/>
                <a:cs typeface="+mn-lt"/>
              </a:rPr>
              <a:t>Distribuição etária bimodal: </a:t>
            </a:r>
            <a:r>
              <a:rPr lang="pt-BR" sz="2200">
                <a:solidFill>
                  <a:srgbClr val="173F7A"/>
                </a:solidFill>
                <a:ea typeface="+mn-lt"/>
                <a:cs typeface="+mn-lt"/>
              </a:rPr>
              <a:t>picos aos </a:t>
            </a:r>
            <a:r>
              <a:rPr lang="pt-BR" sz="2200" b="1">
                <a:solidFill>
                  <a:srgbClr val="173F7A"/>
                </a:solidFill>
                <a:ea typeface="+mn-lt"/>
                <a:cs typeface="+mn-lt"/>
              </a:rPr>
              <a:t>35 e 70 anos</a:t>
            </a:r>
            <a:endParaRPr lang="pt-BR" sz="2200" b="1">
              <a:solidFill>
                <a:srgbClr val="173F7A"/>
              </a:solidFill>
            </a:endParaRPr>
          </a:p>
          <a:p>
            <a:endParaRPr lang="pt-BR" sz="2200" b="1" dirty="0">
              <a:solidFill>
                <a:srgbClr val="173F7A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200">
                <a:solidFill>
                  <a:srgbClr val="173F7A"/>
                </a:solidFill>
                <a:ea typeface="+mn-lt"/>
                <a:cs typeface="+mn-lt"/>
              </a:rPr>
              <a:t>🤰 </a:t>
            </a:r>
            <a:r>
              <a:rPr lang="pt-BR" sz="2200" b="1">
                <a:solidFill>
                  <a:srgbClr val="173F7A"/>
                </a:solidFill>
                <a:ea typeface="+mn-lt"/>
                <a:cs typeface="+mn-lt"/>
              </a:rPr>
              <a:t>53 mulheres grávidas</a:t>
            </a:r>
            <a:endParaRPr lang="pt-BR" sz="2200" b="1">
              <a:solidFill>
                <a:srgbClr val="173F7A"/>
              </a:solidFill>
            </a:endParaRPr>
          </a:p>
          <a:p>
            <a:endParaRPr lang="pt-BR" sz="2200" b="1" dirty="0">
              <a:solidFill>
                <a:srgbClr val="173F7A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2200">
                <a:solidFill>
                  <a:srgbClr val="173F7A"/>
                </a:solidFill>
                <a:ea typeface="+mn-lt"/>
                <a:cs typeface="+mn-lt"/>
              </a:rPr>
              <a:t>🏥 </a:t>
            </a:r>
            <a:r>
              <a:rPr lang="pt-BR" sz="2200" b="1">
                <a:solidFill>
                  <a:srgbClr val="173F7A"/>
                </a:solidFill>
                <a:ea typeface="+mn-lt"/>
                <a:cs typeface="+mn-lt"/>
              </a:rPr>
              <a:t>53 pacientes </a:t>
            </a:r>
            <a:r>
              <a:rPr lang="pt-BR" sz="2200">
                <a:solidFill>
                  <a:srgbClr val="173F7A"/>
                </a:solidFill>
                <a:ea typeface="+mn-lt"/>
                <a:cs typeface="+mn-lt"/>
              </a:rPr>
              <a:t>com histórico de</a:t>
            </a:r>
            <a:r>
              <a:rPr lang="pt-BR" sz="2200" b="1" dirty="0">
                <a:solidFill>
                  <a:srgbClr val="173F7A"/>
                </a:solidFill>
                <a:ea typeface="+mn-lt"/>
                <a:cs typeface="+mn-lt"/>
              </a:rPr>
              <a:t> </a:t>
            </a:r>
            <a:r>
              <a:rPr lang="pt-BR" sz="2200" b="1">
                <a:solidFill>
                  <a:srgbClr val="173F7A"/>
                </a:solidFill>
                <a:ea typeface="+mn-lt"/>
                <a:cs typeface="+mn-lt"/>
              </a:rPr>
              <a:t>cirurgia de tireoide</a:t>
            </a:r>
            <a:endParaRPr lang="pt-BR" sz="2200">
              <a:solidFill>
                <a:srgbClr val="173F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239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0" name="Rectangle 1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1" name="Rectangle 1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4B6F93-0188-3582-3303-7D36D718022C}"/>
              </a:ext>
            </a:extLst>
          </p:cNvPr>
          <p:cNvSpPr txBox="1"/>
          <p:nvPr/>
        </p:nvSpPr>
        <p:spPr>
          <a:xfrm>
            <a:off x="928627" y="670328"/>
            <a:ext cx="10428221" cy="1645920"/>
          </a:xfrm>
          <a:prstGeom prst="rect">
            <a:avLst/>
          </a:prstGeom>
          <a:solidFill>
            <a:srgbClr val="F5F8FC"/>
          </a:solidFill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173F7A"/>
                </a:solidFill>
              </a:rPr>
              <a:t>A distribuição de pacientes com outras doenças é bastante desbalanceada</a:t>
            </a:r>
            <a:r>
              <a:rPr lang="pt-BR">
                <a:solidFill>
                  <a:srgbClr val="173F7A"/>
                </a:solidFill>
              </a:rPr>
              <a:t>, com apenas aproximadamente </a:t>
            </a:r>
            <a:r>
              <a:rPr lang="pt-BR" b="1">
                <a:solidFill>
                  <a:srgbClr val="173F7A"/>
                </a:solidFill>
              </a:rPr>
              <a:t>4% dos pacientes apresentando alguma doença além do hipertireoidismo</a:t>
            </a:r>
            <a:r>
              <a:rPr lang="pt-BR">
                <a:solidFill>
                  <a:srgbClr val="173F7A"/>
                </a:solidFill>
              </a:rPr>
              <a:t>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173F7A"/>
                </a:solidFill>
              </a:rPr>
              <a:t>A distribuição de tumores por faixa etária acompanha o padrão bimodal da distribuição etária geral.</a:t>
            </a:r>
            <a:r>
              <a:rPr lang="pt-BR">
                <a:solidFill>
                  <a:srgbClr val="173F7A"/>
                </a:solidFill>
              </a:rPr>
              <a:t> Isso sugere que não há uma faixa etária com predominância significativa de tumores, mas sim uma distribuição que acompanha, de maneira geral, a quantidade de indivíduos em cada faixa etária.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A967371-B6EE-61FA-8DBE-3BF1408C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919412"/>
            <a:ext cx="4508500" cy="3764916"/>
          </a:xfrm>
          <a:prstGeom prst="rect">
            <a:avLst/>
          </a:prstGeom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7DF994B-6C8C-59F9-D964-C9064EDDB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534" y="2917962"/>
            <a:ext cx="6295518" cy="376434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2873591"/>
      </p:ext>
    </p:extLst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F5BE59E-45C5-591B-D63B-C575272FC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778" y="2011210"/>
            <a:ext cx="9363075" cy="461010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BBA457C-29A1-401D-8C4E-29CEC32C6E11}"/>
              </a:ext>
            </a:extLst>
          </p:cNvPr>
          <p:cNvSpPr/>
          <p:nvPr/>
        </p:nvSpPr>
        <p:spPr>
          <a:xfrm>
            <a:off x="497443" y="188302"/>
            <a:ext cx="11256420" cy="156339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86F919-A550-A470-1F9C-46836DD28252}"/>
              </a:ext>
            </a:extLst>
          </p:cNvPr>
          <p:cNvSpPr txBox="1"/>
          <p:nvPr/>
        </p:nvSpPr>
        <p:spPr>
          <a:xfrm>
            <a:off x="679553" y="357024"/>
            <a:ext cx="10775916" cy="11898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173F7A"/>
                </a:solidFill>
                <a:ea typeface="+mn-lt"/>
                <a:cs typeface="+mn-lt"/>
              </a:rPr>
              <a:t>Ao contrário do que pode parecer intuitivo, </a:t>
            </a:r>
            <a:r>
              <a:rPr lang="pt-BR" sz="2400" b="1" dirty="0">
                <a:solidFill>
                  <a:srgbClr val="173F7A"/>
                </a:solidFill>
                <a:ea typeface="+mn-lt"/>
                <a:cs typeface="+mn-lt"/>
              </a:rPr>
              <a:t>o uso de medicação </a:t>
            </a:r>
            <a:r>
              <a:rPr lang="pt-BR" sz="2400" b="1" dirty="0" err="1">
                <a:solidFill>
                  <a:srgbClr val="173F7A"/>
                </a:solidFill>
                <a:ea typeface="+mn-lt"/>
                <a:cs typeface="+mn-lt"/>
              </a:rPr>
              <a:t>antitireoidiana</a:t>
            </a:r>
            <a:r>
              <a:rPr lang="pt-BR" sz="2400" b="1" dirty="0">
                <a:solidFill>
                  <a:srgbClr val="173F7A"/>
                </a:solidFill>
                <a:ea typeface="+mn-lt"/>
                <a:cs typeface="+mn-lt"/>
              </a:rPr>
              <a:t> não se mostrou um fator determinante para a identificação de pacientes com hipertireoidismo!</a:t>
            </a:r>
            <a:endParaRPr lang="pt-BR" sz="2400" dirty="0">
              <a:solidFill>
                <a:srgbClr val="173F7A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1540898"/>
      </p:ext>
    </p:extLst>
  </p:cSld>
  <p:clrMapOvr>
    <a:masterClrMapping/>
  </p:clrMapOvr>
  <p:transition spd="slow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EA381-D17B-D9AB-95AA-1EFD855F6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173F7A"/>
                </a:solidFill>
              </a:rPr>
              <a:t>Modelos de Machine </a:t>
            </a:r>
            <a:r>
              <a:rPr lang="pt-BR" dirty="0" err="1">
                <a:solidFill>
                  <a:srgbClr val="173F7A"/>
                </a:solidFill>
              </a:rPr>
              <a:t>Learnig</a:t>
            </a:r>
            <a:r>
              <a:rPr lang="pt-BR" dirty="0">
                <a:solidFill>
                  <a:srgbClr val="173F7A"/>
                </a:solidFill>
              </a:rPr>
              <a:t> utilizados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0AE82F-F82D-FF3A-7B2C-8B5047761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935" y="1680575"/>
            <a:ext cx="4995336" cy="502919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5BA8A91-C8AE-5DAE-6ABF-A1F47D635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70" y="1683185"/>
            <a:ext cx="4967117" cy="502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60549"/>
      </p:ext>
    </p:extLst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CF37B-95C2-F583-377D-F388C95F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173F7A"/>
                </a:solidFill>
              </a:rPr>
              <a:t>Melhor resultado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44A28C-843F-F51E-59CB-5F63892F9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rgbClr val="173F7A"/>
                </a:solidFill>
              </a:rPr>
              <a:t>O modelo que minimizou os falsos negativos foi o </a:t>
            </a:r>
            <a:r>
              <a:rPr lang="pt-BR" b="1" dirty="0" err="1">
                <a:solidFill>
                  <a:srgbClr val="173F7A"/>
                </a:solidFill>
              </a:rPr>
              <a:t>XGBoost</a:t>
            </a:r>
            <a:r>
              <a:rPr lang="pt-BR" b="1" dirty="0">
                <a:solidFill>
                  <a:srgbClr val="173F7A"/>
                </a:solidFill>
              </a:rPr>
              <a:t>.</a:t>
            </a:r>
            <a:endParaRPr lang="pt-BR" b="1" dirty="0"/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173F7A"/>
                </a:solidFill>
              </a:rPr>
              <a:t>O modelo acertou</a:t>
            </a:r>
            <a:r>
              <a:rPr lang="pt-BR" b="1">
                <a:solidFill>
                  <a:srgbClr val="173F7A"/>
                </a:solidFill>
              </a:rPr>
              <a:t> 99%</a:t>
            </a:r>
            <a:r>
              <a:rPr lang="pt-BR">
                <a:solidFill>
                  <a:srgbClr val="173F7A"/>
                </a:solidFill>
              </a:rPr>
              <a:t> das previsões!</a:t>
            </a:r>
            <a:endParaRPr lang="pt-BR" dirty="0">
              <a:solidFill>
                <a:srgbClr val="173F7A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173F7A"/>
                </a:solidFill>
              </a:rPr>
              <a:t>Dos casos </a:t>
            </a:r>
            <a:r>
              <a:rPr lang="pt-BR">
                <a:solidFill>
                  <a:srgbClr val="173F7A"/>
                </a:solidFill>
              </a:rPr>
              <a:t>positivos, o modelo acertou </a:t>
            </a:r>
            <a:r>
              <a:rPr lang="pt-BR" b="1">
                <a:solidFill>
                  <a:srgbClr val="173F7A"/>
                </a:solidFill>
              </a:rPr>
              <a:t>99,85%</a:t>
            </a:r>
            <a:r>
              <a:rPr lang="pt-BR">
                <a:solidFill>
                  <a:srgbClr val="173F7A"/>
                </a:solidFill>
              </a:rPr>
              <a:t> das previsões</a:t>
            </a:r>
            <a:endParaRPr lang="pt-BR" dirty="0">
              <a:solidFill>
                <a:srgbClr val="173F7A"/>
              </a:solidFill>
            </a:endParaRPr>
          </a:p>
          <a:p>
            <a:pPr>
              <a:lnSpc>
                <a:spcPct val="150000"/>
              </a:lnSpc>
            </a:pPr>
            <a:endParaRPr lang="pt-BR" dirty="0">
              <a:solidFill>
                <a:srgbClr val="173F7A"/>
              </a:solidFill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5CFE0C0-BDA1-AF32-D9A7-B85A7859EF37}"/>
              </a:ext>
            </a:extLst>
          </p:cNvPr>
          <p:cNvSpPr/>
          <p:nvPr/>
        </p:nvSpPr>
        <p:spPr>
          <a:xfrm>
            <a:off x="1110955" y="4602530"/>
            <a:ext cx="4078794" cy="16981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29349FE-6DE8-B644-40DB-82B113CFC7B0}"/>
              </a:ext>
            </a:extLst>
          </p:cNvPr>
          <p:cNvSpPr/>
          <p:nvPr/>
        </p:nvSpPr>
        <p:spPr>
          <a:xfrm>
            <a:off x="7008625" y="4602529"/>
            <a:ext cx="4078794" cy="16981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BD82B0-B136-22AA-2FC5-EE8079D363C9}"/>
              </a:ext>
            </a:extLst>
          </p:cNvPr>
          <p:cNvSpPr txBox="1"/>
          <p:nvPr/>
        </p:nvSpPr>
        <p:spPr>
          <a:xfrm>
            <a:off x="1115221" y="5065657"/>
            <a:ext cx="407942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 dirty="0">
                <a:solidFill>
                  <a:srgbClr val="F5F8FC"/>
                </a:solidFill>
              </a:rPr>
              <a:t>Acurácia: </a:t>
            </a:r>
            <a:r>
              <a:rPr lang="pt-BR" sz="4400">
                <a:solidFill>
                  <a:srgbClr val="F5F8FC"/>
                </a:solidFill>
              </a:rPr>
              <a:t>99%</a:t>
            </a:r>
            <a:endParaRPr lang="pt-BR" sz="2400">
              <a:solidFill>
                <a:srgbClr val="00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D10DC8-65C9-86B6-A828-E528E0306609}"/>
              </a:ext>
            </a:extLst>
          </p:cNvPr>
          <p:cNvSpPr txBox="1"/>
          <p:nvPr/>
        </p:nvSpPr>
        <p:spPr>
          <a:xfrm>
            <a:off x="7023330" y="5065656"/>
            <a:ext cx="405854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>
                <a:solidFill>
                  <a:srgbClr val="F5F8FC"/>
                </a:solidFill>
              </a:rPr>
              <a:t>Recall: 99,85%</a:t>
            </a:r>
            <a:endParaRPr lang="pt-BR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59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7C2E5-FB3D-CFA4-0A42-99CAE3A8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5F8FC"/>
                </a:solidFill>
              </a:rPr>
              <a:t>Benefícios</a:t>
            </a:r>
            <a:r>
              <a:rPr lang="pt-BR" dirty="0">
                <a:solidFill>
                  <a:srgbClr val="F5F8FC"/>
                </a:solidFill>
              </a:rPr>
              <a:t> do modelo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C18542-246B-52E9-062D-107A21542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pt-BR">
                <a:solidFill>
                  <a:srgbClr val="F5F8FC"/>
                </a:solidFill>
                <a:ea typeface="+mn-lt"/>
                <a:cs typeface="+mn-lt"/>
              </a:rPr>
              <a:t>Capacidade excepcional de identificar pacientes com hipertireoidismo.</a:t>
            </a:r>
            <a:endParaRPr lang="pt-BR">
              <a:solidFill>
                <a:srgbClr val="F5F8FC"/>
              </a:solidFill>
            </a:endParaRP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F5F8FC"/>
                </a:solidFill>
                <a:ea typeface="+mn-lt"/>
                <a:cs typeface="+mn-lt"/>
              </a:rPr>
              <a:t>Alta taxa de classificações corretas.</a:t>
            </a:r>
          </a:p>
          <a:p>
            <a:pPr>
              <a:lnSpc>
                <a:spcPct val="150000"/>
              </a:lnSpc>
            </a:pPr>
            <a:r>
              <a:rPr lang="pt-BR">
                <a:solidFill>
                  <a:srgbClr val="F5F8FC"/>
                </a:solidFill>
                <a:ea typeface="+mn-lt"/>
                <a:cs typeface="+mn-lt"/>
              </a:rPr>
              <a:t>Baixíssimo número de falsos negativos</a:t>
            </a:r>
          </a:p>
        </p:txBody>
      </p:sp>
    </p:spTree>
    <p:extLst>
      <p:ext uri="{BB962C8B-B14F-4D97-AF65-F5344CB8AC3E}">
        <p14:creationId xmlns:p14="http://schemas.microsoft.com/office/powerpoint/2010/main" val="1611063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Apresentação do PowerPoint</vt:lpstr>
      <vt:lpstr>Modelo Preditivo de Hipertireoidismo</vt:lpstr>
      <vt:lpstr>Apresentação do PowerPoint</vt:lpstr>
      <vt:lpstr>Apresentação do PowerPoint</vt:lpstr>
      <vt:lpstr>Apresentação do PowerPoint</vt:lpstr>
      <vt:lpstr>Modelos de Machine Learnig utilizados</vt:lpstr>
      <vt:lpstr>Melhor resultado</vt:lpstr>
      <vt:lpstr>Benefícios do modelo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564</cp:revision>
  <dcterms:created xsi:type="dcterms:W3CDTF">2026-08-10T14:42:11Z</dcterms:created>
  <dcterms:modified xsi:type="dcterms:W3CDTF">2026-08-11T14:08:06Z</dcterms:modified>
</cp:coreProperties>
</file>